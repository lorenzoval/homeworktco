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D:\2021%20Inviati%20agli%20studenti\Valeriani_L_TCO_2021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D:\2021%20Inviati%20agli%20studenti\Valeriani_L_TCO_2021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D:\2021%20Inviati%20agli%20studenti\Valeriani_L_TCO_202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5 year TCO Comparison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'TCO comparison'!$B$15</c:f>
              <c:strCache>
                <c:ptCount val="1"/>
                <c:pt idx="0">
                  <c:v>Hardware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'TCO comparison'!$A$16:$A$17</c:f>
              <c:strCache>
                <c:ptCount val="2"/>
                <c:pt idx="0">
                  <c:v>x86</c:v>
                </c:pt>
                <c:pt idx="1">
                  <c:v>LinuxONE</c:v>
                </c:pt>
              </c:strCache>
            </c:strRef>
          </c:cat>
          <c:val>
            <c:numRef>
              <c:f>'TCO comparison'!$B$16:$B$17</c:f>
              <c:numCache>
                <c:formatCode>_-* #,##0\ _€_-;\-* #,##0\ _€_-;_-* "-"\ _€_-;_-@_-</c:formatCode>
                <c:ptCount val="2"/>
                <c:pt idx="0">
                  <c:v>403200</c:v>
                </c:pt>
                <c:pt idx="1">
                  <c:v>5544000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E1-406A-9B7E-E9873739CD51}"/>
            </c:ext>
          </c:extLst>
        </c:ser>
        <c:ser>
          <c:idx val="1"/>
          <c:order val="1"/>
          <c:tx>
            <c:strRef>
              <c:f>'TCO comparison'!$C$15</c:f>
              <c:strCache>
                <c:ptCount val="1"/>
                <c:pt idx="0">
                  <c:v>Software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'TCO comparison'!$A$16:$A$17</c:f>
              <c:strCache>
                <c:ptCount val="2"/>
                <c:pt idx="0">
                  <c:v>x86</c:v>
                </c:pt>
                <c:pt idx="1">
                  <c:v>LinuxONE</c:v>
                </c:pt>
              </c:strCache>
            </c:strRef>
          </c:cat>
          <c:val>
            <c:numRef>
              <c:f>'TCO comparison'!$C$16:$C$17</c:f>
              <c:numCache>
                <c:formatCode>_-* #,##0\ _€_-;\-* #,##0\ _€_-;_-* "-"\ _€_-;_-@_-</c:formatCode>
                <c:ptCount val="2"/>
                <c:pt idx="0">
                  <c:v>7836552</c:v>
                </c:pt>
                <c:pt idx="1">
                  <c:v>4493272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E1-406A-9B7E-E9873739CD51}"/>
            </c:ext>
          </c:extLst>
        </c:ser>
        <c:ser>
          <c:idx val="2"/>
          <c:order val="2"/>
          <c:tx>
            <c:strRef>
              <c:f>'TCO comparison'!$D$15</c:f>
              <c:strCache>
                <c:ptCount val="1"/>
                <c:pt idx="0">
                  <c:v>People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'TCO comparison'!$A$16:$A$17</c:f>
              <c:strCache>
                <c:ptCount val="2"/>
                <c:pt idx="0">
                  <c:v>x86</c:v>
                </c:pt>
                <c:pt idx="1">
                  <c:v>LinuxONE</c:v>
                </c:pt>
              </c:strCache>
            </c:strRef>
          </c:cat>
          <c:val>
            <c:numRef>
              <c:f>'TCO comparison'!$D$16:$D$17</c:f>
              <c:numCache>
                <c:formatCode>_-* #,##0\ _€_-;\-* #,##0\ _€_-;_-* "-"\ _€_-;_-@_-</c:formatCode>
                <c:ptCount val="2"/>
                <c:pt idx="0">
                  <c:v>1000000</c:v>
                </c:pt>
                <c:pt idx="1">
                  <c:v>100000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E1-406A-9B7E-E9873739CD51}"/>
            </c:ext>
          </c:extLst>
        </c:ser>
        <c:ser>
          <c:idx val="3"/>
          <c:order val="3"/>
          <c:tx>
            <c:strRef>
              <c:f>'TCO comparison'!$E$15</c:f>
              <c:strCache>
                <c:ptCount val="1"/>
                <c:pt idx="0">
                  <c:v>Network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'TCO comparison'!$A$16:$A$17</c:f>
              <c:strCache>
                <c:ptCount val="2"/>
                <c:pt idx="0">
                  <c:v>x86</c:v>
                </c:pt>
                <c:pt idx="1">
                  <c:v>LinuxONE</c:v>
                </c:pt>
              </c:strCache>
            </c:strRef>
          </c:cat>
          <c:val>
            <c:numRef>
              <c:f>'TCO comparison'!$E$16:$E$17</c:f>
              <c:numCache>
                <c:formatCode>_-* #,##0\ _€_-;\-* #,##0\ _€_-;_-* "-"\ _€_-;_-@_-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0E1-406A-9B7E-E9873739CD51}"/>
            </c:ext>
          </c:extLst>
        </c:ser>
        <c:ser>
          <c:idx val="4"/>
          <c:order val="4"/>
          <c:tx>
            <c:strRef>
              <c:f>'TCO comparison'!$F$15</c:f>
              <c:strCache>
                <c:ptCount val="1"/>
                <c:pt idx="0">
                  <c:v>Facilities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'TCO comparison'!$A$16:$A$17</c:f>
              <c:strCache>
                <c:ptCount val="2"/>
                <c:pt idx="0">
                  <c:v>x86</c:v>
                </c:pt>
                <c:pt idx="1">
                  <c:v>LinuxONE</c:v>
                </c:pt>
              </c:strCache>
            </c:strRef>
          </c:cat>
          <c:val>
            <c:numRef>
              <c:f>'TCO comparison'!$F$16:$F$17</c:f>
              <c:numCache>
                <c:formatCode>_-* #,##0\ _€_-;\-* #,##0\ _€_-;_-* "-"\ _€_-;_-@_-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0E1-406A-9B7E-E9873739CD51}"/>
            </c:ext>
          </c:extLst>
        </c:ser>
        <c:ser>
          <c:idx val="5"/>
          <c:order val="5"/>
          <c:tx>
            <c:strRef>
              <c:f>'TCO comparison'!$G$15</c:f>
              <c:strCache>
                <c:ptCount val="1"/>
                <c:pt idx="0">
                  <c:v>DR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'TCO comparison'!$A$16:$A$17</c:f>
              <c:strCache>
                <c:ptCount val="2"/>
                <c:pt idx="0">
                  <c:v>x86</c:v>
                </c:pt>
                <c:pt idx="1">
                  <c:v>LinuxONE</c:v>
                </c:pt>
              </c:strCache>
            </c:strRef>
          </c:cat>
          <c:val>
            <c:numRef>
              <c:f>'TCO comparison'!$G$16:$G$17</c:f>
              <c:numCache>
                <c:formatCode>_-* #,##0\ _€_-;\-* #,##0\ _€_-;_-* "-"\ _€_-;_-@_-</c:formatCode>
                <c:ptCount val="2"/>
                <c:pt idx="0">
                  <c:v>5932974.5599999996</c:v>
                </c:pt>
                <c:pt idx="1">
                  <c:v>336000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0E1-406A-9B7E-E9873739CD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4266815"/>
        <c:axId val="263497871"/>
      </c:barChart>
      <c:catAx>
        <c:axId val="1442668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263497871"/>
        <c:crosses val="autoZero"/>
        <c:auto val="1"/>
        <c:lblAlgn val="ctr"/>
        <c:lblOffset val="100"/>
        <c:noMultiLvlLbl val="0"/>
      </c:catAx>
      <c:valAx>
        <c:axId val="263497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\ _€_-;\-* #,##0\ _€_-;_-* &quot;-&quot;\ _€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42668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Accumulated TCO Comparison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'TCO comparison'!$B$20</c:f>
              <c:strCache>
                <c:ptCount val="1"/>
                <c:pt idx="0">
                  <c:v>x86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rgbClr val="FF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cat>
            <c:strRef>
              <c:f>'TCO comparison'!$C$19:$G$19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'TCO comparison'!$C$20:$G$20</c:f>
              <c:numCache>
                <c:formatCode>_-* #,##0\ _€_-;\-* #,##0\ _€_-;_-* "-"\ _€_-;_-@_-</c:formatCode>
                <c:ptCount val="5"/>
                <c:pt idx="0">
                  <c:v>5518980.1600000001</c:v>
                </c:pt>
                <c:pt idx="1">
                  <c:v>8048040.3200000003</c:v>
                </c:pt>
                <c:pt idx="2">
                  <c:v>10577100.48</c:v>
                </c:pt>
                <c:pt idx="3">
                  <c:v>13202160.640000001</c:v>
                </c:pt>
                <c:pt idx="4">
                  <c:v>15827220.800000001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D6-4FDC-B59F-1E6E3321B0B1}"/>
            </c:ext>
          </c:extLst>
        </c:ser>
        <c:ser>
          <c:idx val="1"/>
          <c:order val="1"/>
          <c:tx>
            <c:strRef>
              <c:f>'TCO comparison'!$B$21</c:f>
              <c:strCache>
                <c:ptCount val="1"/>
                <c:pt idx="0">
                  <c:v>LinuxONE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9525">
                <a:solidFill>
                  <a:srgbClr val="002060"/>
                </a:solidFill>
              </a:ln>
              <a:effectLst/>
            </c:spPr>
          </c:marker>
          <c:cat>
            <c:strRef>
              <c:f>'TCO comparison'!$C$19:$G$19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'TCO comparison'!$C$21:$G$21</c:f>
              <c:numCache>
                <c:formatCode>_-* #,##0\ _€_-;\-* #,##0\ _€_-;_-* "-"\ _€_-;_-@_-</c:formatCode>
                <c:ptCount val="5"/>
                <c:pt idx="0">
                  <c:v>6088677.5578947365</c:v>
                </c:pt>
                <c:pt idx="1">
                  <c:v>6980403.1157894731</c:v>
                </c:pt>
                <c:pt idx="2">
                  <c:v>7872128.6736842096</c:v>
                </c:pt>
                <c:pt idx="3">
                  <c:v>9253854.2315789461</c:v>
                </c:pt>
                <c:pt idx="4">
                  <c:v>10635579.789473683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1D6-4FDC-B59F-1E6E3321B0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1713007"/>
        <c:axId val="263474575"/>
      </c:lineChart>
      <c:catAx>
        <c:axId val="331713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263474575"/>
        <c:crosses val="autoZero"/>
        <c:auto val="1"/>
        <c:lblAlgn val="ctr"/>
        <c:lblOffset val="100"/>
        <c:noMultiLvlLbl val="0"/>
      </c:catAx>
      <c:valAx>
        <c:axId val="263474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\ _€_-;\-* #,##0\ _€_-;_-* &quot;-&quot;\ _€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331713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TCO </a:t>
            </a:r>
            <a:r>
              <a:rPr lang="it-IT" dirty="0" err="1"/>
              <a:t>comparison</a:t>
            </a:r>
            <a:r>
              <a:rPr lang="it-IT" dirty="0"/>
              <a:t> on </a:t>
            </a:r>
            <a:r>
              <a:rPr lang="it-IT" dirty="0" err="1"/>
              <a:t>incremental</a:t>
            </a:r>
            <a:r>
              <a:rPr lang="it-IT" dirty="0"/>
              <a:t> TPS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Data!$B$47</c:f>
              <c:strCache>
                <c:ptCount val="1"/>
                <c:pt idx="0">
                  <c:v>x86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Data!$C$46:$F$46</c:f>
              <c:numCache>
                <c:formatCode>General</c:formatCode>
                <c:ptCount val="4"/>
                <c:pt idx="0">
                  <c:v>100</c:v>
                </c:pt>
                <c:pt idx="1">
                  <c:v>200</c:v>
                </c:pt>
                <c:pt idx="2">
                  <c:v>500</c:v>
                </c:pt>
                <c:pt idx="3">
                  <c:v>1000</c:v>
                </c:pt>
              </c:numCache>
            </c:numRef>
          </c:cat>
          <c:val>
            <c:numRef>
              <c:f>Data!$C$47:$F$47</c:f>
              <c:numCache>
                <c:formatCode>#,##0.00\ "€"</c:formatCode>
                <c:ptCount val="4"/>
                <c:pt idx="0">
                  <c:v>859910.94000000006</c:v>
                </c:pt>
                <c:pt idx="1">
                  <c:v>1042588.4400000001</c:v>
                </c:pt>
                <c:pt idx="2">
                  <c:v>2069664.3</c:v>
                </c:pt>
                <c:pt idx="3">
                  <c:v>3492667.7399999998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D7B-4E59-8479-151B2A19FBCE}"/>
            </c:ext>
          </c:extLst>
        </c:ser>
        <c:ser>
          <c:idx val="1"/>
          <c:order val="1"/>
          <c:tx>
            <c:strRef>
              <c:f>Data!$B$48</c:f>
              <c:strCache>
                <c:ptCount val="1"/>
                <c:pt idx="0">
                  <c:v>LinuxONE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Data!$C$46:$F$46</c:f>
              <c:numCache>
                <c:formatCode>General</c:formatCode>
                <c:ptCount val="4"/>
                <c:pt idx="0">
                  <c:v>100</c:v>
                </c:pt>
                <c:pt idx="1">
                  <c:v>200</c:v>
                </c:pt>
                <c:pt idx="2">
                  <c:v>500</c:v>
                </c:pt>
                <c:pt idx="3">
                  <c:v>1000</c:v>
                </c:pt>
              </c:numCache>
            </c:numRef>
          </c:cat>
          <c:val>
            <c:numRef>
              <c:f>Data!$C$48:$F$48</c:f>
              <c:numCache>
                <c:formatCode>#,##0.00\ "€"</c:formatCode>
                <c:ptCount val="4"/>
                <c:pt idx="0" formatCode="General">
                  <c:v>1484198.5263157894</c:v>
                </c:pt>
                <c:pt idx="1">
                  <c:v>1484198.5263157894</c:v>
                </c:pt>
                <c:pt idx="2">
                  <c:v>1722780.3157894737</c:v>
                </c:pt>
                <c:pt idx="3">
                  <c:v>2129362.1052631582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D7B-4E59-8479-151B2A19FB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7173695"/>
        <c:axId val="1517190335"/>
      </c:lineChart>
      <c:catAx>
        <c:axId val="1517173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517190335"/>
        <c:crosses val="autoZero"/>
        <c:auto val="1"/>
        <c:lblAlgn val="ctr"/>
        <c:lblOffset val="100"/>
        <c:noMultiLvlLbl val="0"/>
      </c:catAx>
      <c:valAx>
        <c:axId val="15171903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\ &quot;€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5171736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1DA343-E367-41AD-AAB2-C022EB19B9C1}" type="datetimeFigureOut">
              <a:rPr lang="it-IT" smtClean="0"/>
              <a:t>02/04/2021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55A99-8062-4B68-BA6B-ED759752EEA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350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55A99-8062-4B68-BA6B-ED759752EEA3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4369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55A99-8062-4B68-BA6B-ED759752EEA3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402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F060-A3EA-4BC4-9675-949AADB89E1B}" type="datetimeFigureOut">
              <a:rPr lang="it-IT" smtClean="0"/>
              <a:t>02/04/2021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2930C-65E0-4BA0-A59F-F12B313F00F1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552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F060-A3EA-4BC4-9675-949AADB89E1B}" type="datetimeFigureOut">
              <a:rPr lang="it-IT" smtClean="0"/>
              <a:t>02/04/2021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2930C-65E0-4BA0-A59F-F12B313F0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8705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F060-A3EA-4BC4-9675-949AADB89E1B}" type="datetimeFigureOut">
              <a:rPr lang="it-IT" smtClean="0"/>
              <a:t>02/04/2021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2930C-65E0-4BA0-A59F-F12B313F00F1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396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F060-A3EA-4BC4-9675-949AADB89E1B}" type="datetimeFigureOut">
              <a:rPr lang="it-IT" smtClean="0"/>
              <a:t>02/04/2021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2930C-65E0-4BA0-A59F-F12B313F0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7799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F060-A3EA-4BC4-9675-949AADB89E1B}" type="datetimeFigureOut">
              <a:rPr lang="it-IT" smtClean="0"/>
              <a:t>02/04/2021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2930C-65E0-4BA0-A59F-F12B313F0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870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F060-A3EA-4BC4-9675-949AADB89E1B}" type="datetimeFigureOut">
              <a:rPr lang="it-IT" smtClean="0"/>
              <a:t>02/04/2021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2930C-65E0-4BA0-A59F-F12B313F0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711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F060-A3EA-4BC4-9675-949AADB89E1B}" type="datetimeFigureOut">
              <a:rPr lang="it-IT" smtClean="0"/>
              <a:t>02/04/2021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2930C-65E0-4BA0-A59F-F12B313F0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0684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230F060-A3EA-4BC4-9675-949AADB89E1B}" type="datetimeFigureOut">
              <a:rPr lang="it-IT" smtClean="0"/>
              <a:t>02/04/2021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D2930C-65E0-4BA0-A59F-F12B313F0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3323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F060-A3EA-4BC4-9675-949AADB89E1B}" type="datetimeFigureOut">
              <a:rPr lang="it-IT" smtClean="0"/>
              <a:t>02/04/2021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2930C-65E0-4BA0-A59F-F12B313F0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2140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F060-A3EA-4BC4-9675-949AADB89E1B}" type="datetimeFigureOut">
              <a:rPr lang="it-IT" smtClean="0"/>
              <a:t>02/04/2021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2930C-65E0-4BA0-A59F-F12B313F0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277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F060-A3EA-4BC4-9675-949AADB89E1B}" type="datetimeFigureOut">
              <a:rPr lang="it-IT" smtClean="0"/>
              <a:t>02/04/2021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2930C-65E0-4BA0-A59F-F12B313F0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7681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30F060-A3EA-4BC4-9675-949AADB89E1B}" type="datetimeFigureOut">
              <a:rPr lang="it-IT" smtClean="0"/>
              <a:t>02/04/2021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ED2930C-65E0-4BA0-A59F-F12B313F00F1}" type="slidenum">
              <a:rPr lang="it-IT" smtClean="0"/>
              <a:t>‹N›</a:t>
            </a:fld>
            <a:endParaRPr lang="it-IT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648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5.emf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Excel_Worksheet2.xlsx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Worksheet1.xlsx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FE59EA-A791-4978-96F4-44C1FCA062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Exam</a:t>
            </a:r>
            <a:r>
              <a:rPr lang="it-IT" dirty="0"/>
              <a:t> </a:t>
            </a:r>
            <a:r>
              <a:rPr lang="it-IT" dirty="0" err="1"/>
              <a:t>Preparation</a:t>
            </a:r>
            <a:r>
              <a:rPr lang="it-IT" dirty="0"/>
              <a:t> </a:t>
            </a:r>
            <a:r>
              <a:rPr lang="it-IT" dirty="0" err="1"/>
              <a:t>Assignment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78E4FA4-AF1E-4E2A-87B2-E215E17B03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Lorenzo Valeriani</a:t>
            </a:r>
          </a:p>
        </p:txBody>
      </p:sp>
    </p:spTree>
    <p:extLst>
      <p:ext uri="{BB962C8B-B14F-4D97-AF65-F5344CB8AC3E}">
        <p14:creationId xmlns:p14="http://schemas.microsoft.com/office/powerpoint/2010/main" val="2456021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EDF354-2C92-4B51-9195-5EC29D517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of the environment UC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12E9722-8DC7-49BC-BC4D-9A9CB1980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UC: Credit Card (CC) Transaction for a Bank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 err="1"/>
              <a:t>Every</a:t>
            </a:r>
            <a:r>
              <a:rPr lang="it-IT" dirty="0"/>
              <a:t> CC </a:t>
            </a:r>
            <a:r>
              <a:rPr lang="it-IT" dirty="0" err="1"/>
              <a:t>transaction</a:t>
            </a:r>
            <a:r>
              <a:rPr lang="it-IT" dirty="0"/>
              <a:t> </a:t>
            </a:r>
            <a:r>
              <a:rPr lang="it-IT" dirty="0" err="1"/>
              <a:t>requires</a:t>
            </a:r>
            <a:r>
              <a:rPr lang="it-IT" dirty="0"/>
              <a:t>:</a:t>
            </a:r>
            <a:endParaRPr lang="it-IT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Checking CC validity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Checking POS validity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Checking money amount validity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Checking if the transaction is suspect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Performing possible </a:t>
            </a:r>
            <a:r>
              <a:rPr lang="it-IT" dirty="0"/>
              <a:t>second </a:t>
            </a:r>
            <a:r>
              <a:rPr lang="it-IT" dirty="0" err="1"/>
              <a:t>identification</a:t>
            </a:r>
            <a:r>
              <a:rPr lang="it-IT" dirty="0"/>
              <a:t> step</a:t>
            </a:r>
            <a:r>
              <a:rPr lang="en-US" dirty="0"/>
              <a:t>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Issuing OK or abort at the end of the transaction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Storing all the information about the transaction</a:t>
            </a:r>
          </a:p>
        </p:txBody>
      </p:sp>
    </p:spTree>
    <p:extLst>
      <p:ext uri="{BB962C8B-B14F-4D97-AF65-F5344CB8AC3E}">
        <p14:creationId xmlns:p14="http://schemas.microsoft.com/office/powerpoint/2010/main" val="1925513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92008D-FCA3-4850-AF43-33FC54AC2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Sizing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21E9FF5-BB00-4B87-B6F9-03019C6DC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881968"/>
            <a:ext cx="10058400" cy="1987126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The system supports an </a:t>
            </a:r>
            <a:r>
              <a:rPr lang="it-IT" dirty="0" err="1"/>
              <a:t>average</a:t>
            </a:r>
            <a:r>
              <a:rPr lang="it-IT" dirty="0"/>
              <a:t> of 2000 TPS, with an </a:t>
            </a:r>
            <a:r>
              <a:rPr lang="it-IT" dirty="0" err="1"/>
              <a:t>upper</a:t>
            </a:r>
            <a:r>
              <a:rPr lang="it-IT" dirty="0"/>
              <a:t> </a:t>
            </a:r>
            <a:r>
              <a:rPr lang="it-IT" dirty="0" err="1"/>
              <a:t>bound</a:t>
            </a:r>
            <a:r>
              <a:rPr lang="it-IT" dirty="0"/>
              <a:t> on the </a:t>
            </a:r>
            <a:r>
              <a:rPr lang="it-IT" dirty="0" err="1"/>
              <a:t>peak</a:t>
            </a:r>
            <a:r>
              <a:rPr lang="it-IT" dirty="0"/>
              <a:t> of 4 times the </a:t>
            </a:r>
            <a:r>
              <a:rPr lang="it-IT" dirty="0" err="1"/>
              <a:t>average</a:t>
            </a:r>
            <a:r>
              <a:rPr lang="it-IT" dirty="0"/>
              <a:t> (so up to 8000 TPS)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The </a:t>
            </a:r>
            <a:r>
              <a:rPr lang="it-IT" dirty="0" err="1"/>
              <a:t>Developement</a:t>
            </a:r>
            <a:r>
              <a:rPr lang="it-IT" dirty="0"/>
              <a:t> </a:t>
            </a:r>
            <a:r>
              <a:rPr lang="it-IT" dirty="0" err="1"/>
              <a:t>environment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half</a:t>
            </a:r>
            <a:r>
              <a:rPr lang="it-IT" dirty="0"/>
              <a:t> the size of the full Production </a:t>
            </a:r>
            <a:r>
              <a:rPr lang="it-IT" dirty="0" err="1"/>
              <a:t>environment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The Testing </a:t>
            </a:r>
            <a:r>
              <a:rPr lang="it-IT" dirty="0" err="1"/>
              <a:t>environment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the </a:t>
            </a:r>
            <a:r>
              <a:rPr lang="it-IT" dirty="0" err="1"/>
              <a:t>same</a:t>
            </a:r>
            <a:r>
              <a:rPr lang="it-IT" dirty="0"/>
              <a:t> size of the </a:t>
            </a:r>
            <a:r>
              <a:rPr lang="it-IT" dirty="0" err="1"/>
              <a:t>Developement</a:t>
            </a:r>
            <a:r>
              <a:rPr lang="it-IT" dirty="0"/>
              <a:t> </a:t>
            </a:r>
            <a:r>
              <a:rPr lang="it-IT" dirty="0" err="1"/>
              <a:t>environment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The </a:t>
            </a:r>
            <a:r>
              <a:rPr lang="it-IT" dirty="0" err="1"/>
              <a:t>Pre</a:t>
            </a:r>
            <a:r>
              <a:rPr lang="it-IT" dirty="0"/>
              <a:t>-Production </a:t>
            </a:r>
            <a:r>
              <a:rPr lang="it-IT" dirty="0" err="1"/>
              <a:t>environment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exact</a:t>
            </a:r>
            <a:r>
              <a:rPr lang="it-IT" dirty="0"/>
              <a:t> replica of the Production </a:t>
            </a:r>
            <a:r>
              <a:rPr lang="it-IT" dirty="0" err="1"/>
              <a:t>environment</a:t>
            </a:r>
            <a:endParaRPr lang="it-IT" dirty="0"/>
          </a:p>
        </p:txBody>
      </p:sp>
      <p:graphicFrame>
        <p:nvGraphicFramePr>
          <p:cNvPr id="4" name="Oggetto 3">
            <a:extLst>
              <a:ext uri="{FF2B5EF4-FFF2-40B4-BE49-F238E27FC236}">
                <a16:creationId xmlns:a16="http://schemas.microsoft.com/office/drawing/2014/main" id="{8920103A-362E-4284-AF5B-F8466C50D4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323541"/>
              </p:ext>
            </p:extLst>
          </p:nvPr>
        </p:nvGraphicFramePr>
        <p:xfrm>
          <a:off x="368300" y="1977814"/>
          <a:ext cx="114554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3738966" imgH="1988749" progId="Excel.Sheet.12">
                  <p:embed/>
                </p:oleObj>
              </mc:Choice>
              <mc:Fallback>
                <p:oleObj name="Worksheet" r:id="rId3" imgW="13738966" imgH="198874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8300" y="1977814"/>
                        <a:ext cx="11455400" cy="166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4538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AE59EC-02B7-42E8-BF02-E83AECE62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Technical </a:t>
            </a:r>
            <a:r>
              <a:rPr lang="it-IT" dirty="0" err="1"/>
              <a:t>Architectures</a:t>
            </a:r>
            <a:r>
              <a:rPr lang="it-IT" dirty="0"/>
              <a:t> for the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cases</a:t>
            </a:r>
            <a:endParaRPr lang="it-IT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ED18171-0534-4AB0-908F-C85930487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998" y="1845734"/>
            <a:ext cx="1533525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9567831-D2A3-4288-9F7A-529D3E1B6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998" y="2263140"/>
            <a:ext cx="1533525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0801FC1-2266-4D1A-9BBA-90CB59870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479" y="1845734"/>
            <a:ext cx="1533525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3345965-62F2-43E5-B39C-3F119A02D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479" y="2263140"/>
            <a:ext cx="1533525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F8A503B8-144D-499B-8EF9-4488354D5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170998" y="3815926"/>
            <a:ext cx="1918018" cy="2345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9EF42506-C233-409E-A6AD-1FCF7FAE7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487479" y="3815926"/>
            <a:ext cx="1918018" cy="2345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99523BB-F254-4B03-A91A-3117362456F2}"/>
              </a:ext>
            </a:extLst>
          </p:cNvPr>
          <p:cNvSpPr txBox="1"/>
          <p:nvPr/>
        </p:nvSpPr>
        <p:spPr>
          <a:xfrm>
            <a:off x="3446464" y="1769520"/>
            <a:ext cx="5285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Case 1: Rack HPE w Xeon Gold 6230 20C 2.10GHz (2 Chips, 40 Cores)</a:t>
            </a:r>
            <a:endParaRPr lang="it-IT" sz="14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EAAC8D2-3E7A-42B7-9E0D-CE74AE311D2D}"/>
              </a:ext>
            </a:extLst>
          </p:cNvPr>
          <p:cNvSpPr txBox="1"/>
          <p:nvPr/>
        </p:nvSpPr>
        <p:spPr>
          <a:xfrm>
            <a:off x="3972560" y="3524031"/>
            <a:ext cx="4048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Case 2: IBM </a:t>
            </a:r>
            <a:r>
              <a:rPr lang="it-IT" sz="1400" dirty="0" err="1"/>
              <a:t>LinuxONE</a:t>
            </a:r>
            <a:r>
              <a:rPr lang="it-IT" sz="1400" dirty="0"/>
              <a:t> Server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1B5F01-56A9-47EA-B418-9982E98355C3}"/>
              </a:ext>
            </a:extLst>
          </p:cNvPr>
          <p:cNvSpPr txBox="1"/>
          <p:nvPr/>
        </p:nvSpPr>
        <p:spPr>
          <a:xfrm>
            <a:off x="3972560" y="3066874"/>
            <a:ext cx="426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60 Servers 2400 Cores </a:t>
            </a:r>
            <a:r>
              <a:rPr lang="it-IT" sz="1200" dirty="0" err="1"/>
              <a:t>total</a:t>
            </a:r>
            <a:endParaRPr lang="it-IT" sz="12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988A9C3-1B18-413C-A283-060BCC79B406}"/>
              </a:ext>
            </a:extLst>
          </p:cNvPr>
          <p:cNvSpPr txBox="1"/>
          <p:nvPr/>
        </p:nvSpPr>
        <p:spPr>
          <a:xfrm>
            <a:off x="3962400" y="5919034"/>
            <a:ext cx="426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2 Servers 120 IFL 80 CBU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FFE4F69-0FCD-4904-A11B-20CB8931DA66}"/>
              </a:ext>
            </a:extLst>
          </p:cNvPr>
          <p:cNvSpPr txBox="1"/>
          <p:nvPr/>
        </p:nvSpPr>
        <p:spPr>
          <a:xfrm>
            <a:off x="711200" y="2077297"/>
            <a:ext cx="34597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Site 1: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it-IT" dirty="0" err="1"/>
              <a:t>Prod</a:t>
            </a:r>
            <a:r>
              <a:rPr lang="it-IT" dirty="0"/>
              <a:t>: 12 Servers, 480 Cores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it-IT" dirty="0" err="1"/>
              <a:t>PreProd</a:t>
            </a:r>
            <a:r>
              <a:rPr lang="it-IT" dirty="0"/>
              <a:t>: 12 Servers, 480 Cores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it-IT" dirty="0"/>
              <a:t>Dev: 6 Servers, 240 Cores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E67E677-B250-44E0-B07E-F52BCD172973}"/>
              </a:ext>
            </a:extLst>
          </p:cNvPr>
          <p:cNvSpPr txBox="1"/>
          <p:nvPr/>
        </p:nvSpPr>
        <p:spPr>
          <a:xfrm>
            <a:off x="8239760" y="2077297"/>
            <a:ext cx="3459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Site 2: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it-IT" dirty="0"/>
              <a:t>Test: 6 Servers, 240 Cores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it-IT" dirty="0"/>
              <a:t>DR: 24 Servers, 960 Cores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1B1CB86-5286-4865-8887-7328729365E7}"/>
              </a:ext>
            </a:extLst>
          </p:cNvPr>
          <p:cNvSpPr txBox="1"/>
          <p:nvPr/>
        </p:nvSpPr>
        <p:spPr>
          <a:xfrm>
            <a:off x="665480" y="4031289"/>
            <a:ext cx="34597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Site 1: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it-IT" dirty="0" err="1"/>
              <a:t>Prod</a:t>
            </a:r>
            <a:r>
              <a:rPr lang="it-IT" dirty="0"/>
              <a:t>: 40 Cores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it-IT" dirty="0"/>
              <a:t>Dev: 20 Cores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it-IT" dirty="0" err="1"/>
              <a:t>Spare</a:t>
            </a:r>
            <a:r>
              <a:rPr lang="it-IT" dirty="0"/>
              <a:t>: 40 CBU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AA4A727-C190-4AE1-99A0-ED810B9E64FD}"/>
              </a:ext>
            </a:extLst>
          </p:cNvPr>
          <p:cNvSpPr txBox="1"/>
          <p:nvPr/>
        </p:nvSpPr>
        <p:spPr>
          <a:xfrm>
            <a:off x="8239760" y="4031288"/>
            <a:ext cx="34597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Site 2: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it-IT" dirty="0" err="1"/>
              <a:t>PreProd</a:t>
            </a:r>
            <a:r>
              <a:rPr lang="it-IT" dirty="0"/>
              <a:t>: 40 Cores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it-IT"/>
              <a:t>Test: </a:t>
            </a:r>
            <a:r>
              <a:rPr lang="it-IT" dirty="0"/>
              <a:t>20 Cores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it-IT" dirty="0" err="1"/>
              <a:t>Spare</a:t>
            </a:r>
            <a:r>
              <a:rPr lang="it-IT" dirty="0"/>
              <a:t>: 40 CBU</a:t>
            </a:r>
          </a:p>
        </p:txBody>
      </p:sp>
    </p:spTree>
    <p:extLst>
      <p:ext uri="{BB962C8B-B14F-4D97-AF65-F5344CB8AC3E}">
        <p14:creationId xmlns:p14="http://schemas.microsoft.com/office/powerpoint/2010/main" val="345080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3">
            <a:extLst>
              <a:ext uri="{FF2B5EF4-FFF2-40B4-BE49-F238E27FC236}">
                <a16:creationId xmlns:a16="http://schemas.microsoft.com/office/drawing/2014/main" id="{64FDB1F2-3180-489E-95DC-143EAEDFDD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5150828"/>
              </p:ext>
            </p:extLst>
          </p:nvPr>
        </p:nvGraphicFramePr>
        <p:xfrm>
          <a:off x="1230821" y="4320348"/>
          <a:ext cx="4192713" cy="20108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4">
            <a:extLst>
              <a:ext uri="{FF2B5EF4-FFF2-40B4-BE49-F238E27FC236}">
                <a16:creationId xmlns:a16="http://schemas.microsoft.com/office/drawing/2014/main" id="{59BA40E8-6C10-4DBF-949C-FC6A97A8B1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396373"/>
              </p:ext>
            </p:extLst>
          </p:nvPr>
        </p:nvGraphicFramePr>
        <p:xfrm>
          <a:off x="6951643" y="4303630"/>
          <a:ext cx="4172304" cy="2010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olo 1">
            <a:extLst>
              <a:ext uri="{FF2B5EF4-FFF2-40B4-BE49-F238E27FC236}">
                <a16:creationId xmlns:a16="http://schemas.microsoft.com/office/drawing/2014/main" id="{64CEAA30-5AC3-49C4-A7E4-F50F06043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TCO </a:t>
            </a:r>
            <a:r>
              <a:rPr lang="it-IT" dirty="0" err="1"/>
              <a:t>Comparison</a:t>
            </a:r>
            <a:r>
              <a:rPr lang="it-IT" dirty="0"/>
              <a:t> on 5 </a:t>
            </a:r>
            <a:r>
              <a:rPr lang="it-IT" dirty="0" err="1"/>
              <a:t>years</a:t>
            </a:r>
            <a:endParaRPr lang="it-IT" dirty="0"/>
          </a:p>
        </p:txBody>
      </p:sp>
      <p:graphicFrame>
        <p:nvGraphicFramePr>
          <p:cNvPr id="5" name="Oggetto 4">
            <a:extLst>
              <a:ext uri="{FF2B5EF4-FFF2-40B4-BE49-F238E27FC236}">
                <a16:creationId xmlns:a16="http://schemas.microsoft.com/office/drawing/2014/main" id="{49F83A68-4772-4F5D-BB0E-5D61091B2E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835681"/>
              </p:ext>
            </p:extLst>
          </p:nvPr>
        </p:nvGraphicFramePr>
        <p:xfrm>
          <a:off x="6782163" y="1737360"/>
          <a:ext cx="4511264" cy="2120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644498" imgH="3124263" progId="Excel.Sheet.12">
                  <p:embed/>
                </p:oleObj>
              </mc:Choice>
              <mc:Fallback>
                <p:oleObj name="Worksheet" r:id="rId4" imgW="6644498" imgH="312426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82163" y="1737360"/>
                        <a:ext cx="4511264" cy="2120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D50E394-593B-4181-B613-A014086B1C7D}"/>
              </a:ext>
            </a:extLst>
          </p:cNvPr>
          <p:cNvSpPr txBox="1"/>
          <p:nvPr/>
        </p:nvSpPr>
        <p:spPr>
          <a:xfrm>
            <a:off x="959533" y="3950814"/>
            <a:ext cx="10333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 err="1"/>
              <a:t>These</a:t>
            </a:r>
            <a:r>
              <a:rPr lang="it-IT" sz="1200" dirty="0"/>
              <a:t> </a:t>
            </a:r>
            <a:r>
              <a:rPr lang="it-IT" sz="1200" dirty="0" err="1"/>
              <a:t>schemas</a:t>
            </a:r>
            <a:r>
              <a:rPr lang="it-IT" sz="1200" dirty="0"/>
              <a:t> show 33% </a:t>
            </a:r>
            <a:r>
              <a:rPr lang="it-IT" sz="1200" dirty="0" err="1"/>
              <a:t>savings</a:t>
            </a:r>
            <a:r>
              <a:rPr lang="it-IT" sz="1200" dirty="0"/>
              <a:t> over 5 </a:t>
            </a:r>
            <a:r>
              <a:rPr lang="it-IT" sz="1200" dirty="0" err="1"/>
              <a:t>years</a:t>
            </a:r>
            <a:r>
              <a:rPr lang="it-IT" sz="1200" dirty="0"/>
              <a:t> </a:t>
            </a:r>
            <a:r>
              <a:rPr lang="it-IT" sz="1200" dirty="0" err="1"/>
              <a:t>when</a:t>
            </a:r>
            <a:r>
              <a:rPr lang="it-IT" sz="1200" dirty="0"/>
              <a:t> </a:t>
            </a:r>
            <a:r>
              <a:rPr lang="it-IT" sz="1200" dirty="0" err="1"/>
              <a:t>using</a:t>
            </a:r>
            <a:r>
              <a:rPr lang="it-IT" sz="1200" dirty="0"/>
              <a:t> IBM </a:t>
            </a:r>
            <a:r>
              <a:rPr lang="it-IT" sz="1200" dirty="0" err="1"/>
              <a:t>LinuxONE</a:t>
            </a:r>
            <a:r>
              <a:rPr lang="it-IT" sz="1200" dirty="0"/>
              <a:t>, </a:t>
            </a:r>
            <a:r>
              <a:rPr lang="it-IT" sz="1200" dirty="0" err="1"/>
              <a:t>despite</a:t>
            </a:r>
            <a:r>
              <a:rPr lang="it-IT" sz="1200" dirty="0"/>
              <a:t> </a:t>
            </a:r>
            <a:r>
              <a:rPr lang="it-IT" sz="1200" dirty="0" err="1"/>
              <a:t>its</a:t>
            </a:r>
            <a:r>
              <a:rPr lang="it-IT" sz="1200" dirty="0"/>
              <a:t> TCA </a:t>
            </a:r>
            <a:r>
              <a:rPr lang="it-IT" sz="1200" dirty="0" err="1"/>
              <a:t>is</a:t>
            </a:r>
            <a:r>
              <a:rPr lang="it-IT" sz="1200" dirty="0"/>
              <a:t> 382% </a:t>
            </a:r>
            <a:r>
              <a:rPr lang="it-IT" sz="1200" dirty="0" err="1"/>
              <a:t>higher</a:t>
            </a:r>
            <a:r>
              <a:rPr lang="it-IT" sz="1200" dirty="0"/>
              <a:t> and the TCO of the first </a:t>
            </a:r>
            <a:r>
              <a:rPr lang="it-IT" sz="1200" dirty="0" err="1"/>
              <a:t>year</a:t>
            </a:r>
            <a:r>
              <a:rPr lang="it-IT" sz="1200" dirty="0"/>
              <a:t> </a:t>
            </a:r>
            <a:r>
              <a:rPr lang="it-IT" sz="1200" dirty="0" err="1"/>
              <a:t>is</a:t>
            </a:r>
            <a:r>
              <a:rPr lang="it-IT" sz="1200" dirty="0"/>
              <a:t> </a:t>
            </a:r>
            <a:r>
              <a:rPr lang="it-IT" sz="1200" dirty="0" err="1"/>
              <a:t>almost</a:t>
            </a:r>
            <a:r>
              <a:rPr lang="it-IT" sz="1200" dirty="0"/>
              <a:t> the </a:t>
            </a:r>
            <a:r>
              <a:rPr lang="it-IT" sz="1200" dirty="0" err="1"/>
              <a:t>same</a:t>
            </a:r>
            <a:endParaRPr lang="it-IT" sz="1200" dirty="0"/>
          </a:p>
        </p:txBody>
      </p:sp>
      <p:graphicFrame>
        <p:nvGraphicFramePr>
          <p:cNvPr id="12" name="Oggetto 11">
            <a:extLst>
              <a:ext uri="{FF2B5EF4-FFF2-40B4-BE49-F238E27FC236}">
                <a16:creationId xmlns:a16="http://schemas.microsoft.com/office/drawing/2014/main" id="{AC25C8D1-8FD1-4245-811A-8D218B7137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0220225"/>
              </p:ext>
            </p:extLst>
          </p:nvPr>
        </p:nvGraphicFramePr>
        <p:xfrm>
          <a:off x="917658" y="1737360"/>
          <a:ext cx="4492180" cy="2111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6644498" imgH="3124263" progId="Excel.Sheet.12">
                  <p:embed/>
                </p:oleObj>
              </mc:Choice>
              <mc:Fallback>
                <p:oleObj name="Worksheet" r:id="rId6" imgW="6644498" imgH="312426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7658" y="1737360"/>
                        <a:ext cx="4492180" cy="21119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5864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118C52-B147-4D70-8D11-F9F6F69EB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X86 TCO </a:t>
            </a:r>
            <a:r>
              <a:rPr lang="it-IT" dirty="0" err="1"/>
              <a:t>Assumptions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68584B-5960-44DD-8440-3DA032DB8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917021" cy="402336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sz="1600" dirty="0"/>
              <a:t>Hardware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Rack server w Xeon Gold 6230 20C 2.10GHz (2 Chips, 40 Cores)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Acquisition cost: 8000€ including 3 years support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Support for following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years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is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20% of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purchase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price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Calibri" panose="020F0502020204030204"/>
              </a:rPr>
              <a:t>Network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7000€ per server -30% discount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Maintenance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is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10% of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purchase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price from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year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Calibri" panose="020F0502020204030204"/>
              </a:rPr>
              <a:t>People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One FTE covers 30 servers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Average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yearly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fully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loaded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costs = 100000€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prstClr val="black"/>
                </a:solidFill>
                <a:latin typeface="Calibri" panose="020F0502020204030204"/>
              </a:rPr>
              <a:t>Space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Fully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loaded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cost of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space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per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square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meter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= 3068€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prstClr val="black"/>
                </a:solidFill>
                <a:latin typeface="Calibri" panose="020F0502020204030204"/>
              </a:rPr>
              <a:t>Electricity</a:t>
            </a:r>
            <a:endParaRPr lang="it-IT" sz="1600" dirty="0">
              <a:solidFill>
                <a:prstClr val="black"/>
              </a:solidFill>
              <a:latin typeface="Calibri" panose="020F0502020204030204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Cost per KWh = 0,12€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6137DB0B-025D-4BC2-BB14-1941E9F59E9E}"/>
              </a:ext>
            </a:extLst>
          </p:cNvPr>
          <p:cNvSpPr txBox="1">
            <a:spLocks/>
          </p:cNvSpPr>
          <p:nvPr/>
        </p:nvSpPr>
        <p:spPr>
          <a:xfrm>
            <a:off x="6238659" y="1845734"/>
            <a:ext cx="491702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it-IT" sz="1600" dirty="0"/>
              <a:t>Software</a:t>
            </a:r>
            <a:endParaRPr lang="it-IT" sz="1600" dirty="0">
              <a:solidFill>
                <a:prstClr val="black"/>
              </a:solidFill>
              <a:latin typeface="Calibri" panose="020F0502020204030204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OS: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subscription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2000€/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year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per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socket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, with a 20% discount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VM: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license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5000€ - 20% discount.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Maintenance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is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20% of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purchase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price from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year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32323"/>
                </a:solidFill>
              </a:rPr>
              <a:t>Application Server: license 47,82€/PVU -75% discount (70 PVU per core). Maintenance 20% of purchase price from year 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anose="020F0502020204030204"/>
              </a:rPr>
              <a:t>DB: subscription 8500€/year per server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Data Replication Tools: subscription 3000€/year per core pair with a 75% discount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Monitoring Tools: license 5.000€/server -40% discount. Maintenance 20% of purchase price from year 2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Security Tools: license 5.000€/server -40% discount. Maintenance 20% of purchase price from year 2</a:t>
            </a:r>
            <a:endParaRPr lang="en-US" sz="1400" dirty="0">
              <a:solidFill>
                <a:srgbClr val="232323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72062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23E903-0833-446E-B312-16F8CFEC6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LinuxONE</a:t>
            </a:r>
            <a:r>
              <a:rPr lang="it-IT" dirty="0"/>
              <a:t> TCO </a:t>
            </a:r>
            <a:r>
              <a:rPr lang="it-IT" dirty="0" err="1"/>
              <a:t>Assumptions</a:t>
            </a:r>
            <a:endParaRPr lang="it-IT" dirty="0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2DEE6158-20BD-4777-BE4A-1F5F273BD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917021" cy="4023360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sz="1700" dirty="0"/>
              <a:t>Hardware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rgbClr val="404040"/>
                </a:solidFill>
              </a:rPr>
              <a:t>LinuxONE</a:t>
            </a:r>
            <a:r>
              <a:rPr lang="en-US" sz="1500" dirty="0">
                <a:solidFill>
                  <a:srgbClr val="404040"/>
                </a:solidFill>
              </a:rPr>
              <a:t> servers configured as the example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Acquisition cost: 3.500.000€ - 30% discount, including 3 years support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Support for following </a:t>
            </a:r>
            <a:r>
              <a:rPr lang="it-IT" sz="1500" dirty="0" err="1">
                <a:solidFill>
                  <a:prstClr val="black"/>
                </a:solidFill>
                <a:latin typeface="Calibri" panose="020F0502020204030204"/>
              </a:rPr>
              <a:t>years</a:t>
            </a: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it-IT" sz="1500" dirty="0" err="1">
                <a:solidFill>
                  <a:prstClr val="black"/>
                </a:solidFill>
                <a:latin typeface="Calibri" panose="020F0502020204030204"/>
              </a:rPr>
              <a:t>is</a:t>
            </a: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 10% of </a:t>
            </a:r>
            <a:r>
              <a:rPr lang="it-IT" sz="1500" dirty="0" err="1">
                <a:solidFill>
                  <a:prstClr val="black"/>
                </a:solidFill>
                <a:latin typeface="Calibri" panose="020F0502020204030204"/>
              </a:rPr>
              <a:t>purchase</a:t>
            </a: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 price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700" dirty="0">
                <a:solidFill>
                  <a:prstClr val="black"/>
                </a:solidFill>
                <a:latin typeface="Calibri" panose="020F0502020204030204"/>
              </a:rPr>
              <a:t>Network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14000€ per </a:t>
            </a:r>
            <a:r>
              <a:rPr lang="it-IT" sz="1500" dirty="0" err="1">
                <a:solidFill>
                  <a:prstClr val="black"/>
                </a:solidFill>
                <a:latin typeface="Calibri" panose="020F0502020204030204"/>
              </a:rPr>
              <a:t>LinuxONE</a:t>
            </a: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 server -30% discount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500" dirty="0" err="1">
                <a:solidFill>
                  <a:prstClr val="black"/>
                </a:solidFill>
                <a:latin typeface="Calibri" panose="020F0502020204030204"/>
              </a:rPr>
              <a:t>Maintenance</a:t>
            </a: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it-IT" sz="1500" dirty="0" err="1">
                <a:solidFill>
                  <a:prstClr val="black"/>
                </a:solidFill>
                <a:latin typeface="Calibri" panose="020F0502020204030204"/>
              </a:rPr>
              <a:t>is</a:t>
            </a: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 10% of </a:t>
            </a:r>
            <a:r>
              <a:rPr lang="it-IT" sz="1500" dirty="0" err="1">
                <a:solidFill>
                  <a:prstClr val="black"/>
                </a:solidFill>
                <a:latin typeface="Calibri" panose="020F0502020204030204"/>
              </a:rPr>
              <a:t>purchase</a:t>
            </a: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 price from </a:t>
            </a:r>
            <a:r>
              <a:rPr lang="it-IT" sz="1500" dirty="0" err="1">
                <a:solidFill>
                  <a:prstClr val="black"/>
                </a:solidFill>
                <a:latin typeface="Calibri" panose="020F0502020204030204"/>
              </a:rPr>
              <a:t>year</a:t>
            </a: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700" dirty="0">
                <a:solidFill>
                  <a:prstClr val="black"/>
                </a:solidFill>
                <a:latin typeface="Calibri" panose="020F0502020204030204"/>
              </a:rPr>
              <a:t>People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One FTE covers 10 servers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500" dirty="0" err="1">
                <a:solidFill>
                  <a:prstClr val="black"/>
                </a:solidFill>
                <a:latin typeface="Calibri" panose="020F0502020204030204"/>
              </a:rPr>
              <a:t>Average</a:t>
            </a: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it-IT" sz="1500" dirty="0" err="1">
                <a:solidFill>
                  <a:prstClr val="black"/>
                </a:solidFill>
                <a:latin typeface="Calibri" panose="020F0502020204030204"/>
              </a:rPr>
              <a:t>yearly</a:t>
            </a: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it-IT" sz="1500" dirty="0" err="1">
                <a:solidFill>
                  <a:prstClr val="black"/>
                </a:solidFill>
                <a:latin typeface="Calibri" panose="020F0502020204030204"/>
              </a:rPr>
              <a:t>fully</a:t>
            </a: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it-IT" sz="1500" dirty="0" err="1">
                <a:solidFill>
                  <a:prstClr val="black"/>
                </a:solidFill>
                <a:latin typeface="Calibri" panose="020F0502020204030204"/>
              </a:rPr>
              <a:t>loaded</a:t>
            </a: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 costs = 100000€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700" dirty="0">
                <a:solidFill>
                  <a:prstClr val="black"/>
                </a:solidFill>
                <a:latin typeface="Calibri" panose="020F0502020204030204"/>
              </a:rPr>
              <a:t>Space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500" dirty="0" err="1">
                <a:solidFill>
                  <a:prstClr val="black"/>
                </a:solidFill>
                <a:latin typeface="Calibri" panose="020F0502020204030204"/>
              </a:rPr>
              <a:t>Fully</a:t>
            </a: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it-IT" sz="1500" dirty="0" err="1">
                <a:solidFill>
                  <a:prstClr val="black"/>
                </a:solidFill>
                <a:latin typeface="Calibri" panose="020F0502020204030204"/>
              </a:rPr>
              <a:t>loaded</a:t>
            </a: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 cost of </a:t>
            </a:r>
            <a:r>
              <a:rPr lang="it-IT" sz="1500" dirty="0" err="1">
                <a:solidFill>
                  <a:prstClr val="black"/>
                </a:solidFill>
                <a:latin typeface="Calibri" panose="020F0502020204030204"/>
              </a:rPr>
              <a:t>space</a:t>
            </a: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 per </a:t>
            </a:r>
            <a:r>
              <a:rPr lang="it-IT" sz="1500" dirty="0" err="1">
                <a:solidFill>
                  <a:prstClr val="black"/>
                </a:solidFill>
                <a:latin typeface="Calibri" panose="020F0502020204030204"/>
              </a:rPr>
              <a:t>square</a:t>
            </a: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it-IT" sz="1500" dirty="0" err="1">
                <a:solidFill>
                  <a:prstClr val="black"/>
                </a:solidFill>
                <a:latin typeface="Calibri" panose="020F0502020204030204"/>
              </a:rPr>
              <a:t>meter</a:t>
            </a: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 = 3304€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700" dirty="0" err="1">
                <a:solidFill>
                  <a:prstClr val="black"/>
                </a:solidFill>
                <a:latin typeface="Calibri" panose="020F0502020204030204"/>
              </a:rPr>
              <a:t>Electricity</a:t>
            </a:r>
            <a:endParaRPr lang="it-IT" sz="1700" dirty="0">
              <a:solidFill>
                <a:prstClr val="black"/>
              </a:solidFill>
              <a:latin typeface="Calibri" panose="020F0502020204030204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500" dirty="0">
                <a:solidFill>
                  <a:prstClr val="black"/>
                </a:solidFill>
                <a:latin typeface="Calibri" panose="020F0502020204030204"/>
              </a:rPr>
              <a:t>Cost per KWh = 0,12€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1A62EC3D-E737-43D6-8B58-56E994F5F382}"/>
              </a:ext>
            </a:extLst>
          </p:cNvPr>
          <p:cNvSpPr txBox="1">
            <a:spLocks/>
          </p:cNvSpPr>
          <p:nvPr/>
        </p:nvSpPr>
        <p:spPr>
          <a:xfrm>
            <a:off x="6238659" y="1845734"/>
            <a:ext cx="491702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it-IT" sz="1600" dirty="0"/>
              <a:t>Software</a:t>
            </a:r>
            <a:endParaRPr lang="it-IT" sz="1600" dirty="0">
              <a:solidFill>
                <a:prstClr val="black"/>
              </a:solidFill>
              <a:latin typeface="Calibri" panose="020F0502020204030204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OS: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subscription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6000€/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year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per core, with a 20% discount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VM: </a:t>
            </a:r>
            <a:r>
              <a:rPr lang="it-IT" sz="1400" dirty="0" err="1">
                <a:solidFill>
                  <a:prstClr val="black"/>
                </a:solidFill>
                <a:latin typeface="Calibri" panose="020F0502020204030204"/>
              </a:rPr>
              <a:t>Included</a:t>
            </a:r>
            <a:r>
              <a:rPr lang="it-IT" sz="1400" dirty="0">
                <a:solidFill>
                  <a:prstClr val="black"/>
                </a:solidFill>
                <a:latin typeface="Calibri" panose="020F0502020204030204"/>
              </a:rPr>
              <a:t> in HW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32323"/>
                </a:solidFill>
              </a:rPr>
              <a:t>Application Server: license 47,82€/PVU - 50% discount (120 PVU per core). Maintenance 20% of purchase price from year 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32323"/>
                </a:solidFill>
                <a:latin typeface="Calibri" panose="020F0502020204030204"/>
              </a:rPr>
              <a:t>DB: subscription 8500€/year per server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Data Replication Tools: subscription 3000€/year per core with a 50% discount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Monitoring Tools: license 5.000€/server -40% discount. Maintenance 20% of purchase price from year 2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Security Tools: license 5.000€/server -40% discount. Maintenance 20% of purchase price from year 2</a:t>
            </a:r>
            <a:endParaRPr lang="en-US" sz="1400" dirty="0">
              <a:solidFill>
                <a:srgbClr val="232323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4729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A86BE1-DD5E-4E1C-94F6-F72EB12AC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Considerations</a:t>
            </a:r>
            <a:r>
              <a:rPr lang="it-IT" dirty="0"/>
              <a:t> on some </a:t>
            </a:r>
            <a:r>
              <a:rPr lang="it-IT" dirty="0" err="1"/>
              <a:t>NFRs</a:t>
            </a:r>
            <a:r>
              <a:rPr lang="it-IT" dirty="0"/>
              <a:t>: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3645DD-8AA6-458D-B034-386E0D25B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NFR-1: </a:t>
            </a:r>
            <a:r>
              <a:rPr lang="en-US" dirty="0"/>
              <a:t>A sizing that takes the average TPS into account would require a deeper study. Even using statistical multiplexing, in occurrence of the maximum peak, a part of the users would be cut off. Furthermore, NFR-6 clearly states that a test phase must be carried out at the value of TPS peaks so these must be fully supported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NFR-2: High </a:t>
            </a:r>
            <a:r>
              <a:rPr lang="it-IT" dirty="0" err="1"/>
              <a:t>Availability</a:t>
            </a:r>
            <a:r>
              <a:rPr lang="it-IT" dirty="0"/>
              <a:t> on x86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achieved</a:t>
            </a:r>
            <a:r>
              <a:rPr lang="it-IT" dirty="0"/>
              <a:t> by </a:t>
            </a:r>
            <a:r>
              <a:rPr lang="it-IT" dirty="0" err="1"/>
              <a:t>oversizing</a:t>
            </a:r>
            <a:r>
              <a:rPr lang="it-IT" dirty="0"/>
              <a:t> </a:t>
            </a:r>
            <a:r>
              <a:rPr lang="it-IT" dirty="0" err="1"/>
              <a:t>environments</a:t>
            </a:r>
            <a:r>
              <a:rPr lang="it-IT" dirty="0"/>
              <a:t>. In </a:t>
            </a:r>
            <a:r>
              <a:rPr lang="it-IT" dirty="0" err="1"/>
              <a:t>this</a:t>
            </a:r>
            <a:r>
              <a:rPr lang="it-IT" dirty="0"/>
              <a:t> case, the price </a:t>
            </a:r>
            <a:r>
              <a:rPr lang="it-IT" dirty="0" err="1"/>
              <a:t>increases</a:t>
            </a:r>
            <a:r>
              <a:rPr lang="it-IT" dirty="0"/>
              <a:t> by over 1 </a:t>
            </a:r>
            <a:r>
              <a:rPr lang="it-IT" dirty="0" err="1"/>
              <a:t>million</a:t>
            </a:r>
            <a:r>
              <a:rPr lang="it-IT" dirty="0"/>
              <a:t> for </a:t>
            </a:r>
            <a:r>
              <a:rPr lang="it-IT" dirty="0" err="1"/>
              <a:t>each</a:t>
            </a:r>
            <a:r>
              <a:rPr lang="it-IT" dirty="0"/>
              <a:t> server </a:t>
            </a:r>
            <a:r>
              <a:rPr lang="it-IT" dirty="0" err="1"/>
              <a:t>added</a:t>
            </a:r>
            <a:r>
              <a:rPr lang="it-IT" dirty="0"/>
              <a:t>. 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</a:rPr>
              <a:t>10 servers are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</a:rPr>
              <a:t>required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</a:rPr>
              <a:t> to handle 8000 TPS</a:t>
            </a:r>
            <a:r>
              <a:rPr kumimoji="0" lang="it-IT" altLang="it-IT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it-IT" dirty="0"/>
              <a:t>. Two servers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been</a:t>
            </a:r>
            <a:r>
              <a:rPr lang="it-IT" dirty="0"/>
              <a:t> </a:t>
            </a:r>
            <a:r>
              <a:rPr lang="it-IT" dirty="0" err="1"/>
              <a:t>added</a:t>
            </a:r>
            <a:r>
              <a:rPr lang="it-IT" dirty="0"/>
              <a:t> for HA </a:t>
            </a:r>
            <a:r>
              <a:rPr lang="it-IT" dirty="0" err="1"/>
              <a:t>reasons</a:t>
            </a:r>
            <a:r>
              <a:rPr lang="it-IT" dirty="0"/>
              <a:t>. The </a:t>
            </a:r>
            <a:r>
              <a:rPr lang="it-IT" dirty="0" err="1"/>
              <a:t>probability</a:t>
            </a:r>
            <a:r>
              <a:rPr lang="it-IT" dirty="0"/>
              <a:t> of server </a:t>
            </a:r>
            <a:r>
              <a:rPr lang="it-IT" dirty="0" err="1"/>
              <a:t>failures</a:t>
            </a:r>
            <a:r>
              <a:rPr lang="it-IT" dirty="0"/>
              <a:t> </a:t>
            </a:r>
            <a:r>
              <a:rPr lang="it-IT" dirty="0" err="1"/>
              <a:t>increases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the </a:t>
            </a:r>
            <a:r>
              <a:rPr lang="it-IT" dirty="0" err="1"/>
              <a:t>number</a:t>
            </a:r>
            <a:r>
              <a:rPr lang="it-IT" dirty="0"/>
              <a:t> of servers </a:t>
            </a:r>
            <a:r>
              <a:rPr lang="it-IT" dirty="0" err="1"/>
              <a:t>increases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NFR-4: The </a:t>
            </a:r>
            <a:r>
              <a:rPr lang="it-IT" dirty="0" err="1"/>
              <a:t>Developement</a:t>
            </a:r>
            <a:r>
              <a:rPr lang="it-IT" dirty="0"/>
              <a:t> team must </a:t>
            </a:r>
            <a:r>
              <a:rPr lang="it-IT" dirty="0" err="1"/>
              <a:t>have</a:t>
            </a:r>
            <a:r>
              <a:rPr lang="it-IT" dirty="0"/>
              <a:t> an </a:t>
            </a:r>
            <a:r>
              <a:rPr lang="it-IT" dirty="0" err="1"/>
              <a:t>environment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half</a:t>
            </a:r>
            <a:r>
              <a:rPr lang="it-IT" dirty="0"/>
              <a:t> of the </a:t>
            </a:r>
            <a:r>
              <a:rPr lang="it-IT" b="1" dirty="0"/>
              <a:t>full</a:t>
            </a:r>
            <a:r>
              <a:rPr lang="it-IT" dirty="0"/>
              <a:t> Production </a:t>
            </a:r>
            <a:r>
              <a:rPr lang="it-IT" dirty="0" err="1"/>
              <a:t>environment</a:t>
            </a:r>
            <a:r>
              <a:rPr lang="it-IT" dirty="0"/>
              <a:t>, so HA servers are </a:t>
            </a:r>
            <a:r>
              <a:rPr lang="it-IT" dirty="0" err="1"/>
              <a:t>counted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86053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EEBF24-0A25-4DFA-8A8C-438F9DD83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TCO </a:t>
            </a:r>
            <a:r>
              <a:rPr lang="it-IT" dirty="0" err="1"/>
              <a:t>Comparison</a:t>
            </a:r>
            <a:r>
              <a:rPr lang="it-IT" dirty="0"/>
              <a:t> on </a:t>
            </a:r>
            <a:r>
              <a:rPr lang="it-IT" dirty="0" err="1"/>
              <a:t>incremental</a:t>
            </a:r>
            <a:r>
              <a:rPr lang="it-IT" dirty="0"/>
              <a:t> TPS: </a:t>
            </a:r>
            <a:r>
              <a:rPr lang="it-IT" dirty="0" err="1"/>
              <a:t>considerations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2DB6484-7E41-4421-879F-C2C500408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4465471"/>
            <a:ext cx="10058400" cy="1690232"/>
          </a:xfrm>
        </p:spPr>
        <p:txBody>
          <a:bodyPr>
            <a:normAutofit fontScale="85000" lnSpcReduction="20000"/>
          </a:bodyPr>
          <a:lstStyle/>
          <a:p>
            <a:r>
              <a:rPr lang="it-IT" dirty="0"/>
              <a:t>The </a:t>
            </a:r>
            <a:r>
              <a:rPr lang="it-IT" dirty="0" err="1"/>
              <a:t>above</a:t>
            </a:r>
            <a:r>
              <a:rPr lang="it-IT" dirty="0"/>
              <a:t> chart shows </a:t>
            </a:r>
            <a:r>
              <a:rPr lang="it-IT" dirty="0" err="1"/>
              <a:t>how</a:t>
            </a:r>
            <a:r>
              <a:rPr lang="it-IT" dirty="0"/>
              <a:t> x86 TCO </a:t>
            </a:r>
            <a:r>
              <a:rPr lang="it-IT" dirty="0" err="1"/>
              <a:t>diverges</a:t>
            </a:r>
            <a:r>
              <a:rPr lang="it-IT" dirty="0"/>
              <a:t> </a:t>
            </a:r>
            <a:r>
              <a:rPr lang="it-IT" dirty="0" err="1"/>
              <a:t>quickly</a:t>
            </a:r>
            <a:r>
              <a:rPr lang="it-IT" dirty="0"/>
              <a:t>, </a:t>
            </a:r>
            <a:r>
              <a:rPr lang="it-IT" dirty="0" err="1"/>
              <a:t>while</a:t>
            </a:r>
            <a:r>
              <a:rPr lang="it-IT" dirty="0"/>
              <a:t> Linux ONE TCO stays </a:t>
            </a:r>
            <a:r>
              <a:rPr lang="it-IT" dirty="0" err="1"/>
              <a:t>almost</a:t>
            </a:r>
            <a:r>
              <a:rPr lang="it-IT" dirty="0"/>
              <a:t> </a:t>
            </a:r>
            <a:r>
              <a:rPr lang="it-IT" dirty="0" err="1"/>
              <a:t>constant</a:t>
            </a:r>
            <a:r>
              <a:rPr lang="it-IT" dirty="0"/>
              <a:t> for a </a:t>
            </a:r>
            <a:r>
              <a:rPr lang="it-IT" dirty="0" err="1"/>
              <a:t>relatively</a:t>
            </a:r>
            <a:r>
              <a:rPr lang="it-IT" dirty="0"/>
              <a:t> small </a:t>
            </a:r>
            <a:r>
              <a:rPr lang="it-IT" dirty="0" err="1"/>
              <a:t>amount</a:t>
            </a:r>
            <a:r>
              <a:rPr lang="it-IT" dirty="0"/>
              <a:t> of TPS. The </a:t>
            </a:r>
            <a:r>
              <a:rPr lang="it-IT" dirty="0" err="1"/>
              <a:t>lower</a:t>
            </a:r>
            <a:r>
              <a:rPr lang="it-IT" dirty="0"/>
              <a:t> TCA of x86 </a:t>
            </a:r>
            <a:r>
              <a:rPr lang="it-IT" dirty="0" err="1"/>
              <a:t>platforms</a:t>
            </a:r>
            <a:r>
              <a:rPr lang="it-IT" dirty="0"/>
              <a:t> </a:t>
            </a:r>
            <a:r>
              <a:rPr lang="it-IT" dirty="0" err="1"/>
              <a:t>may</a:t>
            </a:r>
            <a:r>
              <a:rPr lang="it-IT" dirty="0"/>
              <a:t> lead to inaccurate thinking. </a:t>
            </a:r>
            <a:r>
              <a:rPr lang="it-IT" dirty="0" err="1"/>
              <a:t>Changing</a:t>
            </a:r>
            <a:r>
              <a:rPr lang="it-IT" dirty="0"/>
              <a:t> some </a:t>
            </a:r>
            <a:r>
              <a:rPr lang="it-IT" dirty="0" err="1"/>
              <a:t>parameters</a:t>
            </a:r>
            <a:r>
              <a:rPr lang="it-IT" dirty="0"/>
              <a:t> like the price of </a:t>
            </a:r>
            <a:r>
              <a:rPr lang="it-IT" dirty="0" err="1"/>
              <a:t>electricty</a:t>
            </a:r>
            <a:r>
              <a:rPr lang="it-IT" dirty="0"/>
              <a:t> or </a:t>
            </a:r>
            <a:r>
              <a:rPr lang="it-IT" dirty="0" err="1"/>
              <a:t>space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matter</a:t>
            </a:r>
            <a:r>
              <a:rPr lang="it-IT" dirty="0"/>
              <a:t> </a:t>
            </a:r>
            <a:r>
              <a:rPr lang="it-IT" dirty="0" err="1"/>
              <a:t>much</a:t>
            </a:r>
            <a:r>
              <a:rPr lang="it-IT" dirty="0"/>
              <a:t>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beacuse</a:t>
            </a:r>
            <a:r>
              <a:rPr lang="it-IT" dirty="0"/>
              <a:t> </a:t>
            </a:r>
            <a:r>
              <a:rPr lang="it-IT" dirty="0" err="1"/>
              <a:t>most</a:t>
            </a:r>
            <a:r>
              <a:rPr lang="it-IT" dirty="0"/>
              <a:t> of the cost of x86 systems </a:t>
            </a:r>
            <a:r>
              <a:rPr lang="it-IT" dirty="0" err="1"/>
              <a:t>comes</a:t>
            </a:r>
            <a:r>
              <a:rPr lang="it-IT" dirty="0"/>
              <a:t> from software and DR. On </a:t>
            </a:r>
            <a:r>
              <a:rPr lang="it-IT" dirty="0" err="1"/>
              <a:t>LinuxONE</a:t>
            </a:r>
            <a:r>
              <a:rPr lang="it-IT" dirty="0"/>
              <a:t> the cost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heavily</a:t>
            </a:r>
            <a:r>
              <a:rPr lang="it-IT" dirty="0"/>
              <a:t> </a:t>
            </a:r>
            <a:r>
              <a:rPr lang="it-IT" dirty="0" err="1"/>
              <a:t>determined</a:t>
            </a:r>
            <a:r>
              <a:rPr lang="it-IT"/>
              <a:t> by hardware </a:t>
            </a:r>
            <a:r>
              <a:rPr lang="it-IT" dirty="0"/>
              <a:t>and software,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LinuxONE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a </a:t>
            </a:r>
            <a:r>
              <a:rPr lang="it-IT" dirty="0" err="1"/>
              <a:t>smaller</a:t>
            </a:r>
            <a:r>
              <a:rPr lang="it-IT" dirty="0"/>
              <a:t> </a:t>
            </a:r>
            <a:r>
              <a:rPr lang="it-IT" dirty="0" err="1"/>
              <a:t>amount</a:t>
            </a:r>
            <a:r>
              <a:rPr lang="it-IT" dirty="0"/>
              <a:t> of cores so the price of software </a:t>
            </a:r>
            <a:r>
              <a:rPr lang="it-IT" dirty="0" err="1"/>
              <a:t>is</a:t>
            </a:r>
            <a:r>
              <a:rPr lang="it-IT" dirty="0"/>
              <a:t> way </a:t>
            </a:r>
            <a:r>
              <a:rPr lang="it-IT" dirty="0" err="1"/>
              <a:t>lower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x86 systems.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particular</a:t>
            </a:r>
            <a:r>
              <a:rPr lang="it-IT" dirty="0"/>
              <a:t> scenario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making use of a </a:t>
            </a:r>
            <a:r>
              <a:rPr lang="it-IT" dirty="0" err="1"/>
              <a:t>convenient</a:t>
            </a:r>
            <a:r>
              <a:rPr lang="it-IT" dirty="0"/>
              <a:t> Database. The </a:t>
            </a:r>
            <a:r>
              <a:rPr lang="it-IT" dirty="0" err="1"/>
              <a:t>savings</a:t>
            </a:r>
            <a:r>
              <a:rPr lang="it-IT" dirty="0"/>
              <a:t> favor x86 </a:t>
            </a:r>
            <a:r>
              <a:rPr lang="it-IT" dirty="0" err="1"/>
              <a:t>only</a:t>
            </a:r>
            <a:r>
              <a:rPr lang="it-IT" dirty="0"/>
              <a:t> for a small </a:t>
            </a:r>
            <a:r>
              <a:rPr lang="it-IT" dirty="0" err="1"/>
              <a:t>amount</a:t>
            </a:r>
            <a:r>
              <a:rPr lang="it-IT" dirty="0"/>
              <a:t> of TPS, </a:t>
            </a:r>
            <a:r>
              <a:rPr lang="it-IT" dirty="0" err="1"/>
              <a:t>thus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may</a:t>
            </a:r>
            <a:r>
              <a:rPr lang="it-IT" dirty="0"/>
              <a:t> be </a:t>
            </a:r>
            <a:r>
              <a:rPr lang="it-IT" dirty="0" err="1"/>
              <a:t>suitable</a:t>
            </a:r>
            <a:r>
              <a:rPr lang="it-IT" dirty="0"/>
              <a:t> for small companies, </a:t>
            </a:r>
            <a:r>
              <a:rPr lang="it-IT" dirty="0" err="1"/>
              <a:t>not</a:t>
            </a:r>
            <a:r>
              <a:rPr lang="it-IT" dirty="0"/>
              <a:t> large </a:t>
            </a:r>
            <a:r>
              <a:rPr lang="it-IT" dirty="0" err="1"/>
              <a:t>enterprises</a:t>
            </a:r>
            <a:r>
              <a:rPr lang="it-IT" dirty="0"/>
              <a:t>. </a:t>
            </a:r>
            <a:r>
              <a:rPr lang="it-IT" dirty="0" err="1"/>
              <a:t>Also</a:t>
            </a:r>
            <a:r>
              <a:rPr lang="it-IT" dirty="0"/>
              <a:t>, </a:t>
            </a:r>
            <a:r>
              <a:rPr lang="it-IT" dirty="0" err="1"/>
              <a:t>if</a:t>
            </a:r>
            <a:r>
              <a:rPr lang="it-IT" dirty="0"/>
              <a:t> a small business </a:t>
            </a:r>
            <a:r>
              <a:rPr lang="it-IT" dirty="0" err="1"/>
              <a:t>wants</a:t>
            </a:r>
            <a:r>
              <a:rPr lang="it-IT" dirty="0"/>
              <a:t> to </a:t>
            </a:r>
            <a:r>
              <a:rPr lang="it-IT" dirty="0" err="1"/>
              <a:t>grow</a:t>
            </a:r>
            <a:r>
              <a:rPr lang="it-IT" dirty="0"/>
              <a:t>,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might</a:t>
            </a:r>
            <a:r>
              <a:rPr lang="it-IT" dirty="0"/>
              <a:t> </a:t>
            </a:r>
            <a:r>
              <a:rPr lang="it-IT" dirty="0" err="1"/>
              <a:t>consider</a:t>
            </a:r>
            <a:r>
              <a:rPr lang="it-IT" dirty="0"/>
              <a:t> </a:t>
            </a:r>
            <a:r>
              <a:rPr lang="it-IT" dirty="0" err="1"/>
              <a:t>going</a:t>
            </a:r>
            <a:r>
              <a:rPr lang="it-IT" dirty="0"/>
              <a:t> </a:t>
            </a:r>
            <a:r>
              <a:rPr lang="it-IT" dirty="0" err="1"/>
              <a:t>straight</a:t>
            </a:r>
            <a:r>
              <a:rPr lang="it-IT" dirty="0"/>
              <a:t> for a </a:t>
            </a:r>
            <a:r>
              <a:rPr lang="it-IT" dirty="0" err="1"/>
              <a:t>better</a:t>
            </a:r>
            <a:r>
              <a:rPr lang="it-IT" dirty="0"/>
              <a:t> system </a:t>
            </a:r>
            <a:r>
              <a:rPr lang="it-IT" dirty="0" err="1"/>
              <a:t>instead</a:t>
            </a:r>
            <a:r>
              <a:rPr lang="it-IT" dirty="0"/>
              <a:t> of scaling in the future.</a:t>
            </a:r>
          </a:p>
        </p:txBody>
      </p:sp>
      <p:graphicFrame>
        <p:nvGraphicFramePr>
          <p:cNvPr id="4" name="Grafico 3">
            <a:extLst>
              <a:ext uri="{FF2B5EF4-FFF2-40B4-BE49-F238E27FC236}">
                <a16:creationId xmlns:a16="http://schemas.microsoft.com/office/drawing/2014/main" id="{ACEC6118-8E8B-4B7C-A1C5-EB3A372224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5790371"/>
              </p:ext>
            </p:extLst>
          </p:nvPr>
        </p:nvGraphicFramePr>
        <p:xfrm>
          <a:off x="3810000" y="173736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F3B0D739-109B-44A8-A462-7E042ADDF8D0}"/>
              </a:ext>
            </a:extLst>
          </p:cNvPr>
          <p:cNvSpPr txBox="1"/>
          <p:nvPr/>
        </p:nvSpPr>
        <p:spPr>
          <a:xfrm>
            <a:off x="9049731" y="2739628"/>
            <a:ext cx="1791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dirty="0" err="1"/>
              <a:t>This</a:t>
            </a:r>
            <a:r>
              <a:rPr lang="it-IT" sz="900" dirty="0"/>
              <a:t> data </a:t>
            </a:r>
            <a:r>
              <a:rPr lang="it-IT" sz="900" dirty="0" err="1"/>
              <a:t>is</a:t>
            </a:r>
            <a:r>
              <a:rPr lang="it-IT" sz="900" dirty="0"/>
              <a:t> </a:t>
            </a:r>
            <a:r>
              <a:rPr lang="it-IT" sz="900" dirty="0" err="1"/>
              <a:t>calculated</a:t>
            </a:r>
            <a:r>
              <a:rPr lang="it-IT" sz="900" dirty="0"/>
              <a:t> </a:t>
            </a:r>
            <a:r>
              <a:rPr lang="it-IT" sz="900" dirty="0" err="1"/>
              <a:t>considering</a:t>
            </a:r>
            <a:r>
              <a:rPr lang="it-IT" sz="900" dirty="0"/>
              <a:t> </a:t>
            </a:r>
            <a:r>
              <a:rPr lang="it-IT" sz="900" dirty="0" err="1"/>
              <a:t>only</a:t>
            </a:r>
            <a:r>
              <a:rPr lang="it-IT" sz="900" dirty="0"/>
              <a:t> 1 max server fault</a:t>
            </a:r>
          </a:p>
        </p:txBody>
      </p:sp>
    </p:spTree>
    <p:extLst>
      <p:ext uri="{BB962C8B-B14F-4D97-AF65-F5344CB8AC3E}">
        <p14:creationId xmlns:p14="http://schemas.microsoft.com/office/powerpoint/2010/main" val="20557891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ttiv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825</TotalTime>
  <Words>1048</Words>
  <Application>Microsoft Office PowerPoint</Application>
  <PresentationFormat>Widescreen</PresentationFormat>
  <Paragraphs>97</Paragraphs>
  <Slides>9</Slides>
  <Notes>2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Retrospettivo</vt:lpstr>
      <vt:lpstr>Worksheet</vt:lpstr>
      <vt:lpstr>Exam Preparation Assignment</vt:lpstr>
      <vt:lpstr>Description of the environment UC</vt:lpstr>
      <vt:lpstr>Sizing</vt:lpstr>
      <vt:lpstr>Technical Architectures for the two cases</vt:lpstr>
      <vt:lpstr>TCO Comparison on 5 years</vt:lpstr>
      <vt:lpstr>X86 TCO Assumptions</vt:lpstr>
      <vt:lpstr>LinuxONE TCO Assumptions</vt:lpstr>
      <vt:lpstr>Considerations on some NFRs:</vt:lpstr>
      <vt:lpstr>TCO Comparison on incremental TPS: considerations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 Preparation Assignment</dc:title>
  <dc:creator>lorenzo valeriani</dc:creator>
  <cp:lastModifiedBy>lorenzo valeriani</cp:lastModifiedBy>
  <cp:revision>12</cp:revision>
  <dcterms:created xsi:type="dcterms:W3CDTF">2021-03-29T13:28:12Z</dcterms:created>
  <dcterms:modified xsi:type="dcterms:W3CDTF">2021-04-02T10:08:06Z</dcterms:modified>
</cp:coreProperties>
</file>